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1" r:id="rId7"/>
    <p:sldId id="264" r:id="rId8"/>
    <p:sldId id="265" r:id="rId9"/>
    <p:sldId id="266" r:id="rId10"/>
    <p:sldId id="267" r:id="rId11"/>
    <p:sldId id="269" r:id="rId12"/>
    <p:sldId id="268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213" y="3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27.01.2026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大家好，今天我将向大家汇报我负责的HuiyunAI项目。这是一个基于AI的天气与天文咨询系统，接下来我将从设计思路、技术架构和功能演示三个方面进行详细介绍。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本次汇报将分为五个部分，首先是项目概述，然后是设计思路、技术架构、功能演示，最后是总结与展望。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一下项目的基本情况。HuiyunAI诞生于AI技术飞速发展的背景下，我们希望通过AI来赋能传统的天气和天文领域。项目的核心目标是为用户提供一个准确、高效的咨询服务平台，并通过集成先进的AI模型来实现个性化的建议，最终为用户提供一站式的信息解决方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设计HuiyunAI时，我们始终坚持以用户为中心的核心思想。我们的设计原则包括简洁易用、精准高效、个性化服务和可扩展性。我们希望通过简洁的界面和直观的操作，让用户能够轻松获取所需信息；同时，依托强大的AI模型，保证信息的准确性和系统的响应速度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接下来，我们看一下HuiyunAI的技术架构。整个系统采用分层设计，包括前端、API网关、后端服务、AI模型和数据存储。这种架构保证了系统的稳定性和可扩展性。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部署和运维方面，我们全面采用了Docker容器化技术，这使得应用可以轻松地在任何支持Docker的环境中运行。同时，我们使用Git进行版本控制，并借助CI/CD工具实现了自动化的构建和部署流程，大大提高了开发和运维的效率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接下来，我将为大家演示HuiyunAI的主要功能。首先是天气查询，用户只需输入城市名称，系统就会返回该城市的实时天气信息，比如温度、天气状况和风力等。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除了天气查询，HuiyunAI还提供了天文预测功能。用户可以查询未来的月相、流星雨等天文现象，满足天文爱好者的需求。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HuiyunAI项目已经成功实现了所有核心功能，包括天气查询、天文预测和个性化建议。在技术上，我们通过使用FastAPI和Docker等先进技术，构建了一个高效、稳定且易于部署的系统。该项目为用户提供了极大的便利，获得了良好的用户反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6361C-98F6-C6D2-64C9-76C01F026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9F20C-7BB5-A1E9-5AC7-22624B5E427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78E63B-9677-26B9-AEF6-09329AF6C84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6A99297C-BA81-DB97-8BEB-139C27CC9E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6B66800-CDB1-BBA4-6ED4-8A8D75BF86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一下，HuiyunAI项目已经成功实现了所有核心功能，包括天气查询、天文预测和个性化建议。在技术上，我们通过使用FastAPI和Docker等先进技术，构建了一个高效、稳定且易于部署的系统。该项目为用户提供了极大的便利，获得了良好的用户反馈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FD2959-648C-BEE5-71DD-DA57DB7C891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046FA4-3213-DD99-E9AD-0DBD45B1D9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1832137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我的汇报到此结束，感谢大家的聆听。现在是问答环节，欢迎大家提问。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jpe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7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2.svg"/><Relationship Id="rId4" Type="http://schemas.openxmlformats.org/officeDocument/2006/relationships/image" Target="../media/image18.sv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1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1.jpeg"/><Relationship Id="rId7" Type="http://schemas.openxmlformats.org/officeDocument/2006/relationships/image" Target="../media/image2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.svg"/><Relationship Id="rId10" Type="http://schemas.openxmlformats.org/officeDocument/2006/relationships/image" Target="../media/image28.png"/><Relationship Id="rId4" Type="http://schemas.openxmlformats.org/officeDocument/2006/relationships/image" Target="../media/image1.png"/><Relationship Id="rId9" Type="http://schemas.openxmlformats.org/officeDocument/2006/relationships/image" Target="../media/image27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jpeg"/><Relationship Id="rId7" Type="http://schemas.openxmlformats.org/officeDocument/2006/relationships/image" Target="../media/image3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10" Type="http://schemas.openxmlformats.org/officeDocument/2006/relationships/image" Target="../media/image33.png"/><Relationship Id="rId4" Type="http://schemas.openxmlformats.org/officeDocument/2006/relationships/image" Target="../media/image29.png"/><Relationship Id="rId9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1.jpeg"/><Relationship Id="rId7" Type="http://schemas.openxmlformats.org/officeDocument/2006/relationships/image" Target="../media/image15.svg"/><Relationship Id="rId12" Type="http://schemas.openxmlformats.org/officeDocument/2006/relationships/image" Target="../media/image3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11" Type="http://schemas.openxmlformats.org/officeDocument/2006/relationships/image" Target="../media/image37.svg"/><Relationship Id="rId5" Type="http://schemas.openxmlformats.org/officeDocument/2006/relationships/image" Target="../media/image35.svg"/><Relationship Id="rId10" Type="http://schemas.openxmlformats.org/officeDocument/2006/relationships/image" Target="../media/image36.png"/><Relationship Id="rId4" Type="http://schemas.openxmlformats.org/officeDocument/2006/relationships/image" Target="../media/image34.png"/><Relationship Id="rId9" Type="http://schemas.openxmlformats.org/officeDocument/2006/relationships/image" Target="../media/image10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1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11" Type="http://schemas.openxmlformats.org/officeDocument/2006/relationships/image" Target="../media/image37.svg"/><Relationship Id="rId5" Type="http://schemas.openxmlformats.org/officeDocument/2006/relationships/image" Target="../media/image35.svg"/><Relationship Id="rId10" Type="http://schemas.openxmlformats.org/officeDocument/2006/relationships/image" Target="../media/image36.png"/><Relationship Id="rId4" Type="http://schemas.openxmlformats.org/officeDocument/2006/relationships/image" Target="../media/image34.png"/><Relationship Id="rId9" Type="http://schemas.openxmlformats.org/officeDocument/2006/relationships/image" Target="../media/image10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1016000" y="2032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4800" b="1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寒假集训</a:t>
            </a:r>
            <a:r>
              <a:rPr lang="en-US" sz="4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工作总结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5588000" y="31115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3492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zh-CN" altLang="en-US" sz="22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彗云</a:t>
            </a:r>
            <a:r>
              <a:rPr lang="en-US" altLang="zh-CN" sz="22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AI - </a:t>
            </a:r>
            <a:r>
              <a:rPr lang="en-US" sz="22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基于AI的天气与天文咨询系统</a:t>
            </a:r>
            <a:endParaRPr lang="en-US" sz="1100" dirty="0"/>
          </a:p>
        </p:txBody>
      </p:sp>
      <p:cxnSp>
        <p:nvCxnSpPr>
          <p:cNvPr id="7" name="Connector 7"/>
          <p:cNvCxnSpPr/>
          <p:nvPr/>
        </p:nvCxnSpPr>
        <p:spPr>
          <a:xfrm rot="-8594">
            <a:off x="3556008" y="4311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2286000" y="4699000"/>
            <a:ext cx="762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汇报人</a:t>
            </a:r>
            <a:r>
              <a:rPr lang="en-US" sz="16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6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廖云飞</a:t>
            </a:r>
            <a:r>
              <a:rPr lang="en-US" sz="1600" b="0" i="0" u="none" strike="noStrike" dirty="0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 | 日期：2026年1月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762000" y="508000"/>
            <a:ext cx="508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CONTENTS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14323">
            <a:off x="762013" y="12128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62000" y="1778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20800" y="18034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r>
              <a:rPr lang="en-US" sz="18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项目概述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8594">
            <a:off x="762008" y="23304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2000" y="2667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20800" y="26924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r>
              <a:rPr lang="en-US" sz="18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设计思路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8594">
            <a:off x="762008" y="32194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Picture 1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2000" y="3556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20800" y="35814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r>
              <a:rPr lang="en-US" sz="18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技术架构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8594">
            <a:off x="762008" y="41084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" name="Picture 1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2000" y="4445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320800" y="4470400"/>
            <a:ext cx="381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04</a:t>
            </a:r>
            <a:r>
              <a:rPr lang="en-US" sz="18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总结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8594">
            <a:off x="762008" y="49974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8" name="Picture 18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12700000" y="-12700000"/>
            <a:ext cx="12700" cy="127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Poppins"/>
                <a:ea typeface="Poppins"/>
                <a:cs typeface="Poppins"/>
                <a:sym typeface="Poppins"/>
              </a:rPr>
              <a:t>05</a:t>
            </a:r>
            <a:r>
              <a:rPr lang="en-US" sz="18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总结与展望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5387722">
            <a:off x="4825990" y="3549672"/>
            <a:ext cx="355602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7112000" y="17780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本次汇报概览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12000" y="2413000"/>
            <a:ext cx="203200" cy="2032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493000" y="2413000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Poppins"/>
                <a:ea typeface="Poppins"/>
                <a:cs typeface="Poppins"/>
                <a:sym typeface="Poppins"/>
              </a:rPr>
              <a:t>项目背景与目标</a:t>
            </a:r>
            <a:endParaRPr lang="en-US" sz="1100"/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12000" y="3048000"/>
            <a:ext cx="203200" cy="2032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493000" y="3048000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Poppins"/>
                <a:ea typeface="Poppins"/>
                <a:cs typeface="Poppins"/>
                <a:sym typeface="Poppins"/>
              </a:rPr>
              <a:t>核心设计理念</a:t>
            </a:r>
            <a:endParaRPr lang="en-US" sz="1100"/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12000" y="3683000"/>
            <a:ext cx="203200" cy="203200"/>
          </a:xfrm>
          <a:prstGeom prst="rect">
            <a:avLst/>
          </a:prstGeom>
        </p:spPr>
      </p:pic>
      <p:sp>
        <p:nvSpPr>
          <p:cNvPr id="27" name="AutoShape 27"/>
          <p:cNvSpPr/>
          <p:nvPr/>
        </p:nvSpPr>
        <p:spPr>
          <a:xfrm>
            <a:off x="7493000" y="3683000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Poppins"/>
                <a:ea typeface="Poppins"/>
                <a:cs typeface="Poppins"/>
                <a:sym typeface="Poppins"/>
              </a:rPr>
              <a:t>关键技术栈与实现</a:t>
            </a:r>
            <a:endParaRPr lang="en-US" sz="1100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12000" y="4318000"/>
            <a:ext cx="203200" cy="2032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493000" y="4318000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Poppins"/>
                <a:ea typeface="Poppins"/>
                <a:cs typeface="Poppins"/>
                <a:sym typeface="Poppins"/>
              </a:rPr>
              <a:t>核心功能与效果展示</a:t>
            </a:r>
            <a:endParaRPr lang="en-US" sz="1100"/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12000" y="4572000"/>
            <a:ext cx="203200" cy="2032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7493000" y="4572000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Poppins"/>
                <a:ea typeface="Poppins"/>
                <a:cs typeface="Poppins"/>
                <a:sym typeface="Poppins"/>
              </a:rPr>
              <a:t>成果总结与未来规划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508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项目概述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14323">
            <a:off x="762013" y="12128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17780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320800" y="18034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开发背景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320800" y="22098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利用AI赋能传统天气与天文领域，提供更准确、高效的服务。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31496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20800" y="31750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项目目标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320800" y="35814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提供精准的天气和天文咨询，并通过AI实现个性化建议。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4521200"/>
            <a:ext cx="355600" cy="355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20800" y="45466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项目价值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320800" y="4953000"/>
            <a:ext cx="4826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打造一站式信息查询平台，全面提升用户体验。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5388540">
            <a:off x="4191000" y="3676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rcRect t="2655" b="2655"/>
          <a:stretch>
            <a:fillRect/>
          </a:stretch>
        </p:blipFill>
        <p:spPr>
          <a:xfrm>
            <a:off x="6604000" y="2032000"/>
            <a:ext cx="4826000" cy="3048000"/>
          </a:xfrm>
          <a:prstGeom prst="roundRect">
            <a:avLst>
              <a:gd name="adj" fmla="val 5000"/>
            </a:avLst>
          </a:prstGeom>
          <a:noFill/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</p:pic>
      <p:pic>
        <p:nvPicPr>
          <p:cNvPr id="17" name="Picture 14">
            <a:extLst>
              <a:ext uri="{FF2B5EF4-FFF2-40B4-BE49-F238E27FC236}">
                <a16:creationId xmlns:a16="http://schemas.microsoft.com/office/drawing/2014/main" id="{6B756B86-5EEA-64DC-7370-D7A57D59A0D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65" b="65"/>
          <a:stretch>
            <a:fillRect/>
          </a:stretch>
        </p:blipFill>
        <p:spPr>
          <a:xfrm>
            <a:off x="6604000" y="2032000"/>
            <a:ext cx="4826000" cy="3213100"/>
          </a:xfrm>
          <a:prstGeom prst="roundRect">
            <a:avLst>
              <a:gd name="adj" fmla="val 4743"/>
            </a:avLst>
          </a:prstGeom>
          <a:noFill/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9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5080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设计思路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350000" y="1651000"/>
            <a:ext cx="533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350000" y="2133600"/>
            <a:ext cx="5334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以用户为中心，利用AI技术简化和优化天气与天文信息的获取方式。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350000" y="2946400"/>
            <a:ext cx="5334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 dirty="0" err="1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设计原则</a:t>
            </a:r>
            <a:endParaRPr lang="en-US" sz="1100" dirty="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0000" y="34798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858000" y="34798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简洁易用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858000" y="38354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界面设计简洁明了，操作流程直观。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50000" y="43688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858000" y="4368800"/>
            <a:ext cx="4826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精准高效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858000" y="4724400"/>
            <a:ext cx="4826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依托AI模型，确保信息的准确性和响应速度。</a:t>
            </a:r>
            <a:endParaRPr lang="en-US" sz="1100"/>
          </a:p>
        </p:txBody>
      </p:sp>
      <p:pic>
        <p:nvPicPr>
          <p:cNvPr id="19" name="图片 18" descr="手机的屏幕&#10;&#10;AI 生成的内容可能不正确。">
            <a:extLst>
              <a:ext uri="{FF2B5EF4-FFF2-40B4-BE49-F238E27FC236}">
                <a16:creationId xmlns:a16="http://schemas.microsoft.com/office/drawing/2014/main" id="{054C79D4-ADAD-36BC-1C48-91CF243FC4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7441" y="1738801"/>
            <a:ext cx="5544559" cy="3126398"/>
          </a:xfrm>
          <a:prstGeom prst="rect">
            <a:avLst/>
          </a:prstGeom>
          <a:ln w="31750">
            <a:solidFill>
              <a:srgbClr val="00B0F0"/>
            </a:solidFill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AutoShape 2">
            <a:extLst>
              <a:ext uri="{FF2B5EF4-FFF2-40B4-BE49-F238E27FC236}">
                <a16:creationId xmlns:a16="http://schemas.microsoft.com/office/drawing/2014/main" id="{FFA3C3EA-0193-A414-563F-6574E76E297E}"/>
              </a:ext>
            </a:extLst>
          </p:cNvPr>
          <p:cNvSpPr/>
          <p:nvPr/>
        </p:nvSpPr>
        <p:spPr>
          <a:xfrm>
            <a:off x="762000" y="508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技术架构</a:t>
            </a:r>
            <a:endParaRPr lang="en-US" sz="1100"/>
          </a:p>
        </p:txBody>
      </p:sp>
      <p:cxnSp>
        <p:nvCxnSpPr>
          <p:cNvPr id="17" name="Connector 3">
            <a:extLst>
              <a:ext uri="{FF2B5EF4-FFF2-40B4-BE49-F238E27FC236}">
                <a16:creationId xmlns:a16="http://schemas.microsoft.com/office/drawing/2014/main" id="{0460CA5A-E6EF-B559-2F27-4F9EACDEC7D0}"/>
              </a:ext>
            </a:extLst>
          </p:cNvPr>
          <p:cNvCxnSpPr/>
          <p:nvPr/>
        </p:nvCxnSpPr>
        <p:spPr>
          <a:xfrm rot="-4092">
            <a:off x="762004" y="1200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4">
            <a:extLst>
              <a:ext uri="{FF2B5EF4-FFF2-40B4-BE49-F238E27FC236}">
                <a16:creationId xmlns:a16="http://schemas.microsoft.com/office/drawing/2014/main" id="{BF5ADF76-8EE7-60F3-40F2-18CF4924A04A}"/>
              </a:ext>
            </a:extLst>
          </p:cNvPr>
          <p:cNvSpPr/>
          <p:nvPr/>
        </p:nvSpPr>
        <p:spPr>
          <a:xfrm>
            <a:off x="762000" y="1651000"/>
            <a:ext cx="3302000" cy="2540000"/>
          </a:xfrm>
          <a:prstGeom prst="roundRect">
            <a:avLst>
              <a:gd name="adj" fmla="val 4000"/>
            </a:avLst>
          </a:prstGeom>
          <a:solidFill>
            <a:srgbClr val="00BFFF">
              <a:alpha val="5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5">
            <a:extLst>
              <a:ext uri="{FF2B5EF4-FFF2-40B4-BE49-F238E27FC236}">
                <a16:creationId xmlns:a16="http://schemas.microsoft.com/office/drawing/2014/main" id="{96F17521-B552-25C4-9C71-08DB483B92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905000"/>
            <a:ext cx="406400" cy="406400"/>
          </a:xfrm>
          <a:prstGeom prst="rect">
            <a:avLst/>
          </a:prstGeom>
        </p:spPr>
      </p:pic>
      <p:sp>
        <p:nvSpPr>
          <p:cNvPr id="20" name="AutoShape 6">
            <a:extLst>
              <a:ext uri="{FF2B5EF4-FFF2-40B4-BE49-F238E27FC236}">
                <a16:creationId xmlns:a16="http://schemas.microsoft.com/office/drawing/2014/main" id="{DD4FA6B0-752B-11FE-1EA0-FA778E967777}"/>
              </a:ext>
            </a:extLst>
          </p:cNvPr>
          <p:cNvSpPr/>
          <p:nvPr/>
        </p:nvSpPr>
        <p:spPr>
          <a:xfrm>
            <a:off x="1549400" y="19558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前端技术栈</a:t>
            </a:r>
            <a:endParaRPr lang="en-US" sz="1100"/>
          </a:p>
        </p:txBody>
      </p:sp>
      <p:sp>
        <p:nvSpPr>
          <p:cNvPr id="21" name="AutoShape 7">
            <a:extLst>
              <a:ext uri="{FF2B5EF4-FFF2-40B4-BE49-F238E27FC236}">
                <a16:creationId xmlns:a16="http://schemas.microsoft.com/office/drawing/2014/main" id="{785AD951-D681-6AF8-42C4-506E0A6C0F32}"/>
              </a:ext>
            </a:extLst>
          </p:cNvPr>
          <p:cNvSpPr/>
          <p:nvPr/>
        </p:nvSpPr>
        <p:spPr>
          <a:xfrm>
            <a:off x="1016000" y="2540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HTML5, CSS3, JavaScript, Axios</a:t>
            </a:r>
            <a:endParaRPr lang="en-US" sz="1100"/>
          </a:p>
        </p:txBody>
      </p:sp>
      <p:sp>
        <p:nvSpPr>
          <p:cNvPr id="22" name="AutoShape 8">
            <a:extLst>
              <a:ext uri="{FF2B5EF4-FFF2-40B4-BE49-F238E27FC236}">
                <a16:creationId xmlns:a16="http://schemas.microsoft.com/office/drawing/2014/main" id="{F4B6ECD9-3DFB-BC23-75CE-77DE5CF9BC08}"/>
              </a:ext>
            </a:extLst>
          </p:cNvPr>
          <p:cNvSpPr/>
          <p:nvPr/>
        </p:nvSpPr>
        <p:spPr>
          <a:xfrm>
            <a:off x="4445000" y="1651000"/>
            <a:ext cx="3302000" cy="2540000"/>
          </a:xfrm>
          <a:prstGeom prst="roundRect">
            <a:avLst>
              <a:gd name="adj" fmla="val 4000"/>
            </a:avLst>
          </a:prstGeom>
          <a:solidFill>
            <a:srgbClr val="00BFFF">
              <a:alpha val="5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3" name="Picture 9">
            <a:extLst>
              <a:ext uri="{FF2B5EF4-FFF2-40B4-BE49-F238E27FC236}">
                <a16:creationId xmlns:a16="http://schemas.microsoft.com/office/drawing/2014/main" id="{27F8DD59-0ECF-A443-8EA2-93AD20777DA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99000" y="1905000"/>
            <a:ext cx="406400" cy="406400"/>
          </a:xfrm>
          <a:prstGeom prst="rect">
            <a:avLst/>
          </a:prstGeom>
        </p:spPr>
      </p:pic>
      <p:sp>
        <p:nvSpPr>
          <p:cNvPr id="24" name="AutoShape 10">
            <a:extLst>
              <a:ext uri="{FF2B5EF4-FFF2-40B4-BE49-F238E27FC236}">
                <a16:creationId xmlns:a16="http://schemas.microsoft.com/office/drawing/2014/main" id="{29798605-20C1-EB38-3CD7-1A0D9AA7A30A}"/>
              </a:ext>
            </a:extLst>
          </p:cNvPr>
          <p:cNvSpPr/>
          <p:nvPr/>
        </p:nvSpPr>
        <p:spPr>
          <a:xfrm>
            <a:off x="5232400" y="19558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后端技术栈</a:t>
            </a:r>
            <a:endParaRPr lang="en-US" sz="1100"/>
          </a:p>
        </p:txBody>
      </p:sp>
      <p:sp>
        <p:nvSpPr>
          <p:cNvPr id="25" name="AutoShape 11">
            <a:extLst>
              <a:ext uri="{FF2B5EF4-FFF2-40B4-BE49-F238E27FC236}">
                <a16:creationId xmlns:a16="http://schemas.microsoft.com/office/drawing/2014/main" id="{C4882851-32AE-FEB8-EE3A-F756204FA963}"/>
              </a:ext>
            </a:extLst>
          </p:cNvPr>
          <p:cNvSpPr/>
          <p:nvPr/>
        </p:nvSpPr>
        <p:spPr>
          <a:xfrm>
            <a:off x="4699000" y="2540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Python 3.12, FastAPI, Requests, OpenAI Python SDK</a:t>
            </a:r>
            <a:endParaRPr lang="en-US" sz="1100"/>
          </a:p>
        </p:txBody>
      </p:sp>
      <p:sp>
        <p:nvSpPr>
          <p:cNvPr id="26" name="AutoShape 12">
            <a:extLst>
              <a:ext uri="{FF2B5EF4-FFF2-40B4-BE49-F238E27FC236}">
                <a16:creationId xmlns:a16="http://schemas.microsoft.com/office/drawing/2014/main" id="{A58E4573-AC3E-4A61-7CDF-9E0AA04F83B5}"/>
              </a:ext>
            </a:extLst>
          </p:cNvPr>
          <p:cNvSpPr/>
          <p:nvPr/>
        </p:nvSpPr>
        <p:spPr>
          <a:xfrm>
            <a:off x="8128000" y="1651000"/>
            <a:ext cx="3302000" cy="2540000"/>
          </a:xfrm>
          <a:prstGeom prst="roundRect">
            <a:avLst>
              <a:gd name="adj" fmla="val 4000"/>
            </a:avLst>
          </a:prstGeom>
          <a:solidFill>
            <a:srgbClr val="00BFFF">
              <a:alpha val="5000"/>
            </a:srgbClr>
          </a:solidFill>
          <a:ln w="127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7" name="Picture 13">
            <a:extLst>
              <a:ext uri="{FF2B5EF4-FFF2-40B4-BE49-F238E27FC236}">
                <a16:creationId xmlns:a16="http://schemas.microsoft.com/office/drawing/2014/main" id="{4BFD1B12-6C8A-9FDA-8BF2-54B86DE9A3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82000" y="1905000"/>
            <a:ext cx="406400" cy="406400"/>
          </a:xfrm>
          <a:prstGeom prst="rect">
            <a:avLst/>
          </a:prstGeom>
        </p:spPr>
      </p:pic>
      <p:sp>
        <p:nvSpPr>
          <p:cNvPr id="28" name="AutoShape 14">
            <a:extLst>
              <a:ext uri="{FF2B5EF4-FFF2-40B4-BE49-F238E27FC236}">
                <a16:creationId xmlns:a16="http://schemas.microsoft.com/office/drawing/2014/main" id="{3CD17131-9DDA-C28B-B031-84426060CE4E}"/>
              </a:ext>
            </a:extLst>
          </p:cNvPr>
          <p:cNvSpPr/>
          <p:nvPr/>
        </p:nvSpPr>
        <p:spPr>
          <a:xfrm>
            <a:off x="8915400" y="1955800"/>
            <a:ext cx="254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依赖服务</a:t>
            </a:r>
            <a:endParaRPr lang="en-US" sz="1100"/>
          </a:p>
        </p:txBody>
      </p:sp>
      <p:sp>
        <p:nvSpPr>
          <p:cNvPr id="29" name="AutoShape 15">
            <a:extLst>
              <a:ext uri="{FF2B5EF4-FFF2-40B4-BE49-F238E27FC236}">
                <a16:creationId xmlns:a16="http://schemas.microsoft.com/office/drawing/2014/main" id="{8ED7D3AD-70C6-14F0-8196-A1401FBCC79A}"/>
              </a:ext>
            </a:extLst>
          </p:cNvPr>
          <p:cNvSpPr/>
          <p:nvPr/>
        </p:nvSpPr>
        <p:spPr>
          <a:xfrm>
            <a:off x="8382000" y="2540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和风天气API, 天文通API, 通义千问API</a:t>
            </a:r>
            <a:endParaRPr lang="en-US" sz="1100"/>
          </a:p>
        </p:txBody>
      </p:sp>
      <p:cxnSp>
        <p:nvCxnSpPr>
          <p:cNvPr id="30" name="Connector 16">
            <a:extLst>
              <a:ext uri="{FF2B5EF4-FFF2-40B4-BE49-F238E27FC236}">
                <a16:creationId xmlns:a16="http://schemas.microsoft.com/office/drawing/2014/main" id="{2F977062-9F54-CE4B-95F3-2990350AA11F}"/>
              </a:ext>
            </a:extLst>
          </p:cNvPr>
          <p:cNvCxnSpPr/>
          <p:nvPr/>
        </p:nvCxnSpPr>
        <p:spPr>
          <a:xfrm rot="-4092">
            <a:off x="762004" y="456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1" name="Picture 17">
            <a:extLst>
              <a:ext uri="{FF2B5EF4-FFF2-40B4-BE49-F238E27FC236}">
                <a16:creationId xmlns:a16="http://schemas.microsoft.com/office/drawing/2014/main" id="{487D6E9F-6B38-CE79-A949-A7DE4363930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2000" y="4953000"/>
            <a:ext cx="304800" cy="304800"/>
          </a:xfrm>
          <a:prstGeom prst="rect">
            <a:avLst/>
          </a:prstGeom>
        </p:spPr>
      </p:pic>
      <p:sp>
        <p:nvSpPr>
          <p:cNvPr id="32" name="AutoShape 18">
            <a:extLst>
              <a:ext uri="{FF2B5EF4-FFF2-40B4-BE49-F238E27FC236}">
                <a16:creationId xmlns:a16="http://schemas.microsoft.com/office/drawing/2014/main" id="{F0AE4B5D-9D13-B067-7E45-A74827261ECA}"/>
              </a:ext>
            </a:extLst>
          </p:cNvPr>
          <p:cNvSpPr/>
          <p:nvPr/>
        </p:nvSpPr>
        <p:spPr>
          <a:xfrm>
            <a:off x="1270000" y="49784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架构模式</a:t>
            </a:r>
            <a:endParaRPr lang="en-US" sz="1100"/>
          </a:p>
        </p:txBody>
      </p:sp>
      <p:sp>
        <p:nvSpPr>
          <p:cNvPr id="33" name="AutoShape 19">
            <a:extLst>
              <a:ext uri="{FF2B5EF4-FFF2-40B4-BE49-F238E27FC236}">
                <a16:creationId xmlns:a16="http://schemas.microsoft.com/office/drawing/2014/main" id="{C962522D-EFFF-92E4-31BF-FBC532ADA6A4}"/>
              </a:ext>
            </a:extLst>
          </p:cNvPr>
          <p:cNvSpPr/>
          <p:nvPr/>
        </p:nvSpPr>
        <p:spPr>
          <a:xfrm>
            <a:off x="1270000" y="5359400"/>
            <a:ext cx="1016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采用前后端分离模式，确保系统的高可扩展性、可维护性和良好的用户体验。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部署与运维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1422400" y="2413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 dirty="0" err="1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版本控制</a:t>
            </a:r>
            <a:endParaRPr lang="en-US" sz="1100" dirty="0"/>
          </a:p>
        </p:txBody>
      </p:sp>
      <p:sp>
        <p:nvSpPr>
          <p:cNvPr id="8" name="AutoShape 8"/>
          <p:cNvSpPr/>
          <p:nvPr/>
        </p:nvSpPr>
        <p:spPr>
          <a:xfrm>
            <a:off x="1422400" y="28448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使用Git进行代码管理，确保开发流程的规范。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12700000" y="-12700000"/>
            <a:ext cx="12700" cy="127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版本控制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使用Git进行代码管理，确保开发流程的规范。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12700000" y="-12700000"/>
            <a:ext cx="12700" cy="127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CI/CD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-12700000" y="-12700000"/>
            <a:ext cx="12700" cy="12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使用GitHub Actions等工具实现持续集成和持续部署。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5388540">
            <a:off x="4191000" y="3549661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rcRect l="49762" r="49762"/>
          <a:stretch>
            <a:fillRect/>
          </a:stretch>
        </p:blipFill>
        <p:spPr>
          <a:xfrm>
            <a:off x="-12700000" y="-12700000"/>
            <a:ext cx="12700" cy="12700"/>
          </a:xfrm>
          <a:prstGeom prst="roundRect">
            <a:avLst>
              <a:gd name="adj" fmla="val 1200000"/>
            </a:avLst>
          </a:prstGeom>
          <a:noFill/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</a:ln>
        </p:spPr>
      </p:pic>
      <p:sp>
        <p:nvSpPr>
          <p:cNvPr id="18" name="AutoShape 7">
            <a:extLst>
              <a:ext uri="{FF2B5EF4-FFF2-40B4-BE49-F238E27FC236}">
                <a16:creationId xmlns:a16="http://schemas.microsoft.com/office/drawing/2014/main" id="{39D6815D-59B5-BAF6-9092-EE6D9A8CE8C7}"/>
              </a:ext>
            </a:extLst>
          </p:cNvPr>
          <p:cNvSpPr/>
          <p:nvPr/>
        </p:nvSpPr>
        <p:spPr>
          <a:xfrm>
            <a:off x="1422400" y="36195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FFFFFF"/>
                </a:solidFill>
                <a:latin typeface="Noto Sans SC"/>
                <a:ea typeface="Noto Sans SC"/>
                <a:sym typeface="Noto Sans SC"/>
              </a:rPr>
              <a:t>项目部署</a:t>
            </a:r>
            <a:endParaRPr lang="en-US" sz="1100" dirty="0"/>
          </a:p>
        </p:txBody>
      </p:sp>
      <p:sp>
        <p:nvSpPr>
          <p:cNvPr id="19" name="AutoShape 8">
            <a:extLst>
              <a:ext uri="{FF2B5EF4-FFF2-40B4-BE49-F238E27FC236}">
                <a16:creationId xmlns:a16="http://schemas.microsoft.com/office/drawing/2014/main" id="{AD087531-CB05-C4F6-AB21-A6AB1C1F1EAA}"/>
              </a:ext>
            </a:extLst>
          </p:cNvPr>
          <p:cNvSpPr/>
          <p:nvPr/>
        </p:nvSpPr>
        <p:spPr>
          <a:xfrm>
            <a:off x="1422400" y="40513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zh-CN" altLang="en-US" sz="1400" b="0" i="0" u="none" strike="noStrike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使用</a:t>
            </a:r>
            <a:r>
              <a:rPr lang="zh-CN" altLang="en-US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免费部署工具</a:t>
            </a:r>
            <a:r>
              <a:rPr lang="en-US" altLang="zh-CN" dirty="0">
                <a:solidFill>
                  <a:schemeClr val="bg1"/>
                </a:solidFill>
                <a:latin typeface="Noto Sans SC"/>
                <a:ea typeface="Noto Sans SC"/>
                <a:cs typeface="Noto Sans SC"/>
                <a:sym typeface="Noto Sans SC"/>
              </a:rPr>
              <a:t>Railway</a:t>
            </a:r>
          </a:p>
          <a:p>
            <a:pPr>
              <a:lnSpc>
                <a:spcPct val="116666"/>
              </a:lnSpc>
              <a:defRPr/>
            </a:pPr>
            <a:r>
              <a:rPr lang="zh-CN" altLang="en-US" dirty="0">
                <a:solidFill>
                  <a:schemeClr val="bg1"/>
                </a:solidFill>
                <a:latin typeface="Noto Sans SC"/>
                <a:ea typeface="Noto Sans SC"/>
                <a:sym typeface="Noto Sans SC"/>
              </a:rPr>
              <a:t>项目地址</a:t>
            </a:r>
            <a:r>
              <a:rPr lang="en-US" altLang="zh-CN" dirty="0">
                <a:solidFill>
                  <a:schemeClr val="bg1"/>
                </a:solidFill>
                <a:latin typeface="Noto Sans SC"/>
                <a:ea typeface="Noto Sans SC"/>
                <a:sym typeface="Noto Sans SC"/>
              </a:rPr>
              <a:t>:</a:t>
            </a:r>
            <a:r>
              <a:rPr lang="en-US" altLang="zh-CN" dirty="0">
                <a:solidFill>
                  <a:schemeClr val="bg1"/>
                </a:solidFill>
              </a:rPr>
              <a:t>https://</a:t>
            </a:r>
            <a:r>
              <a:rPr lang="en-US" altLang="zh-CN" dirty="0" err="1">
                <a:solidFill>
                  <a:schemeClr val="bg1"/>
                </a:solidFill>
              </a:rPr>
              <a:t>huiyunai-production.up.railway.app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111827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7620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功能演示 - 天气查询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12128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1778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实时天气，一键获取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2413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70000" y="2438400"/>
            <a:ext cx="431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用户可以输入城市名称，快速查询该城市的当前天气情况。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32258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70000" y="3251200"/>
            <a:ext cx="431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系统返回实时温度、天气状况、风力风向等关键信息。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2000" y="40386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270000" y="4064000"/>
            <a:ext cx="431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界面简洁直观，提供最佳的用户查询体验。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385676">
            <a:off x="4572000" y="3295663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762000" y="53340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简单、快速、精准，满足您的日常天气查询需求。</a:t>
            </a:r>
            <a:endParaRPr lang="en-US" sz="1100"/>
          </a:p>
        </p:txBody>
      </p:sp>
      <p:pic>
        <p:nvPicPr>
          <p:cNvPr id="17" name="图片 16" descr="文本&#10;&#10;AI 生成的内容可能不正确。">
            <a:extLst>
              <a:ext uri="{FF2B5EF4-FFF2-40B4-BE49-F238E27FC236}">
                <a16:creationId xmlns:a16="http://schemas.microsoft.com/office/drawing/2014/main" id="{BB819C70-0BD9-AC42-C618-D3CC092C7C6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3350" y="2049344"/>
            <a:ext cx="4768850" cy="2294056"/>
          </a:xfrm>
          <a:prstGeom prst="roundRect">
            <a:avLst>
              <a:gd name="adj" fmla="val 16667"/>
            </a:avLst>
          </a:prstGeom>
          <a:ln w="25400">
            <a:solidFill>
              <a:srgbClr val="00B0F0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功能演示 - 天文预测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8594">
            <a:off x="762008" y="12001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1778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70000" y="1778000"/>
            <a:ext cx="457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探索宇宙的奥秘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70000" y="2286000"/>
            <a:ext cx="4572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 dirty="0" err="1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用户可以查询天文相关的预测信息，如月相变化、等，满足您对星空的好奇心</a:t>
            </a:r>
            <a:r>
              <a:rPr lang="en-US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70000" y="34290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714500" y="3429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精准月相查询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714500" y="3810000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获取未来30天的月相变化及关键节点。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70000" y="45720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714500" y="4572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重大天象预报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714500" y="4953000"/>
            <a:ext cx="381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1D5DB"/>
                </a:solidFill>
                <a:latin typeface="Noto Sans SC"/>
                <a:ea typeface="Noto Sans SC"/>
                <a:cs typeface="Noto Sans SC"/>
                <a:sym typeface="Noto Sans SC"/>
              </a:rPr>
              <a:t>不错过任何一场精彩的流星雨和行星合相。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4092">
            <a:off x="762004" y="5835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18" name="图片 17" descr="屏幕上有个手机&#10;&#10;AI 生成的内容可能不正确。">
            <a:extLst>
              <a:ext uri="{FF2B5EF4-FFF2-40B4-BE49-F238E27FC236}">
                <a16:creationId xmlns:a16="http://schemas.microsoft.com/office/drawing/2014/main" id="{7EC25915-B343-DD57-6129-5A2CDC1E91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6000" y="2265152"/>
            <a:ext cx="5553344" cy="2177132"/>
          </a:xfrm>
          <a:prstGeom prst="roundRect">
            <a:avLst>
              <a:gd name="adj" fmla="val 16667"/>
            </a:avLst>
          </a:prstGeom>
          <a:ln w="25400">
            <a:solidFill>
              <a:srgbClr val="00BFFF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4064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总结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8594">
            <a:off x="762008" y="12128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1651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70000" y="1651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完成情况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70000" y="20320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成功实现了天气查询、天文预测和个性化建议等核心功能。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29210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270000" y="2921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技术亮点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70000" y="3378200"/>
            <a:ext cx="203200" cy="2032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74800" y="3352800"/>
            <a:ext cx="431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基于FastAPI构建高效、稳定的后端服务。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70000" y="3886200"/>
            <a:ext cx="203200" cy="203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74800" y="3860800"/>
            <a:ext cx="431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集成阿里通义千问AI模型，实现自然语言理解。</a:t>
            </a:r>
            <a:endParaRPr lang="en-US" sz="1100"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2000" y="4953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270000" y="4953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用户价值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1270000" y="53340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为用户提供了便捷、精准的天气与天文信息服务。</a:t>
            </a:r>
            <a:endParaRPr lang="en-US" sz="1100"/>
          </a:p>
        </p:txBody>
      </p:sp>
      <p:pic>
        <p:nvPicPr>
          <p:cNvPr id="16" name="图片 15" descr="夜空下的雪山">
            <a:extLst>
              <a:ext uri="{FF2B5EF4-FFF2-40B4-BE49-F238E27FC236}">
                <a16:creationId xmlns:a16="http://schemas.microsoft.com/office/drawing/2014/main" id="{8C742424-98CD-1F8A-7ACF-4348446C0F4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02517" y="1805632"/>
            <a:ext cx="5476591" cy="3653135"/>
          </a:xfrm>
          <a:prstGeom prst="roundRect">
            <a:avLst>
              <a:gd name="adj" fmla="val 16667"/>
            </a:avLst>
          </a:prstGeom>
          <a:ln w="34925">
            <a:solidFill>
              <a:srgbClr val="00BFFF"/>
            </a:solidFill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BBF39C-ACAE-B637-5A3B-DC420A2A0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2A33E82-7175-E209-0F81-A5641C194F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>
            <a:extLst>
              <a:ext uri="{FF2B5EF4-FFF2-40B4-BE49-F238E27FC236}">
                <a16:creationId xmlns:a16="http://schemas.microsoft.com/office/drawing/2014/main" id="{56064A0E-984F-FF47-DCFB-7CC0D398E6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lang="zh-CN" altLang="en-US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21AC9923-938C-4479-F56F-83B17406DF6E}"/>
              </a:ext>
            </a:extLst>
          </p:cNvPr>
          <p:cNvSpPr/>
          <p:nvPr/>
        </p:nvSpPr>
        <p:spPr>
          <a:xfrm>
            <a:off x="762000" y="406400"/>
            <a:ext cx="508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dirty="0">
                <a:solidFill>
                  <a:srgbClr val="FFFFFF"/>
                </a:solidFill>
                <a:latin typeface="Noto Sans SC"/>
                <a:ea typeface="Noto Sans SC"/>
                <a:sym typeface="Noto Sans SC"/>
              </a:rPr>
              <a:t>关于项目</a:t>
            </a:r>
            <a:endParaRPr lang="en-US" sz="1100" dirty="0"/>
          </a:p>
        </p:txBody>
      </p:sp>
      <p:cxnSp>
        <p:nvCxnSpPr>
          <p:cNvPr id="5" name="Connector 5">
            <a:extLst>
              <a:ext uri="{FF2B5EF4-FFF2-40B4-BE49-F238E27FC236}">
                <a16:creationId xmlns:a16="http://schemas.microsoft.com/office/drawing/2014/main" id="{46399ADA-1C77-284A-A7ED-73C173E65061}"/>
              </a:ext>
            </a:extLst>
          </p:cNvPr>
          <p:cNvCxnSpPr/>
          <p:nvPr/>
        </p:nvCxnSpPr>
        <p:spPr>
          <a:xfrm rot="-8594">
            <a:off x="762008" y="12128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6" name="Picture 6">
            <a:extLst>
              <a:ext uri="{FF2B5EF4-FFF2-40B4-BE49-F238E27FC236}">
                <a16:creationId xmlns:a16="http://schemas.microsoft.com/office/drawing/2014/main" id="{5748DD66-F4C6-41AB-9DB8-F8115667B3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1651000"/>
            <a:ext cx="304800" cy="304800"/>
          </a:xfrm>
          <a:prstGeom prst="rect">
            <a:avLst/>
          </a:prstGeom>
        </p:spPr>
      </p:pic>
      <p:sp>
        <p:nvSpPr>
          <p:cNvPr id="7" name="AutoShape 7">
            <a:extLst>
              <a:ext uri="{FF2B5EF4-FFF2-40B4-BE49-F238E27FC236}">
                <a16:creationId xmlns:a16="http://schemas.microsoft.com/office/drawing/2014/main" id="{1B0614AB-B0A6-5E48-FE12-1D92AB40E777}"/>
              </a:ext>
            </a:extLst>
          </p:cNvPr>
          <p:cNvSpPr/>
          <p:nvPr/>
        </p:nvSpPr>
        <p:spPr>
          <a:xfrm>
            <a:off x="1270000" y="1651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FFFFFF"/>
                </a:solidFill>
                <a:latin typeface="Noto Sans SC"/>
                <a:ea typeface="Noto Sans SC"/>
                <a:sym typeface="Noto Sans SC"/>
              </a:rPr>
              <a:t>项目地址</a:t>
            </a:r>
            <a:endParaRPr lang="en-US" sz="1100" dirty="0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7F634AB2-4783-58C1-C912-020458E7F40D}"/>
              </a:ext>
            </a:extLst>
          </p:cNvPr>
          <p:cNvSpPr/>
          <p:nvPr/>
        </p:nvSpPr>
        <p:spPr>
          <a:xfrm>
            <a:off x="1270000" y="2032000"/>
            <a:ext cx="4572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 dirty="0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https://github.com/muff-cn/HuiyunAI/</a:t>
            </a:r>
            <a:endParaRPr lang="en-US" sz="1100" dirty="0"/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23D01304-0E14-3580-4A40-D85F466B41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2000" y="2921000"/>
            <a:ext cx="304800" cy="304800"/>
          </a:xfrm>
          <a:prstGeom prst="rect">
            <a:avLst/>
          </a:prstGeom>
        </p:spPr>
      </p:pic>
      <p:sp>
        <p:nvSpPr>
          <p:cNvPr id="10" name="AutoShape 10">
            <a:extLst>
              <a:ext uri="{FF2B5EF4-FFF2-40B4-BE49-F238E27FC236}">
                <a16:creationId xmlns:a16="http://schemas.microsoft.com/office/drawing/2014/main" id="{8C3F13EF-73C5-D27D-DA03-3E928470D409}"/>
              </a:ext>
            </a:extLst>
          </p:cNvPr>
          <p:cNvSpPr/>
          <p:nvPr/>
        </p:nvSpPr>
        <p:spPr>
          <a:xfrm>
            <a:off x="1270000" y="2921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FFFFFF"/>
                </a:solidFill>
                <a:latin typeface="Noto Sans SC"/>
                <a:ea typeface="Noto Sans SC"/>
                <a:sym typeface="Noto Sans SC"/>
              </a:rPr>
              <a:t>已部署项目</a:t>
            </a:r>
            <a:endParaRPr lang="en-US" sz="1100" dirty="0"/>
          </a:p>
        </p:txBody>
      </p:sp>
      <p:pic>
        <p:nvPicPr>
          <p:cNvPr id="11" name="Picture 11">
            <a:extLst>
              <a:ext uri="{FF2B5EF4-FFF2-40B4-BE49-F238E27FC236}">
                <a16:creationId xmlns:a16="http://schemas.microsoft.com/office/drawing/2014/main" id="{DEA59BBF-70B3-1B9C-0182-46A96AE749D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70000" y="3378200"/>
            <a:ext cx="203200" cy="203200"/>
          </a:xfrm>
          <a:prstGeom prst="rect">
            <a:avLst/>
          </a:prstGeom>
        </p:spPr>
      </p:pic>
      <p:sp>
        <p:nvSpPr>
          <p:cNvPr id="12" name="AutoShape 12">
            <a:extLst>
              <a:ext uri="{FF2B5EF4-FFF2-40B4-BE49-F238E27FC236}">
                <a16:creationId xmlns:a16="http://schemas.microsoft.com/office/drawing/2014/main" id="{8068822C-D559-DD56-A877-1B2B55838DE1}"/>
              </a:ext>
            </a:extLst>
          </p:cNvPr>
          <p:cNvSpPr/>
          <p:nvPr/>
        </p:nvSpPr>
        <p:spPr>
          <a:xfrm>
            <a:off x="1574800" y="3352800"/>
            <a:ext cx="431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dirty="0">
                <a:solidFill>
                  <a:srgbClr val="E5E7EB"/>
                </a:solidFill>
                <a:latin typeface="Noto Sans SC"/>
                <a:ea typeface="Noto Sans SC"/>
                <a:sym typeface="Noto Sans SC"/>
              </a:rPr>
              <a:t>注</a:t>
            </a:r>
            <a:r>
              <a:rPr lang="en-US" altLang="zh-CN" dirty="0">
                <a:solidFill>
                  <a:srgbClr val="E5E7EB"/>
                </a:solidFill>
                <a:latin typeface="Noto Sans SC"/>
                <a:ea typeface="Noto Sans SC"/>
                <a:sym typeface="Noto Sans SC"/>
              </a:rPr>
              <a:t>: </a:t>
            </a:r>
            <a:r>
              <a:rPr lang="zh-CN" altLang="en-US" dirty="0">
                <a:solidFill>
                  <a:srgbClr val="E5E7EB"/>
                </a:solidFill>
                <a:latin typeface="Noto Sans SC"/>
                <a:ea typeface="Noto Sans SC"/>
                <a:sym typeface="Noto Sans SC"/>
              </a:rPr>
              <a:t>由于服务器在境外</a:t>
            </a:r>
            <a:r>
              <a:rPr lang="en-US" altLang="zh-CN" dirty="0">
                <a:solidFill>
                  <a:srgbClr val="E5E7EB"/>
                </a:solidFill>
                <a:latin typeface="Noto Sans SC"/>
                <a:ea typeface="Noto Sans SC"/>
                <a:sym typeface="Noto Sans SC"/>
              </a:rPr>
              <a:t>, AI</a:t>
            </a:r>
            <a:r>
              <a:rPr lang="zh-CN" altLang="en-US" dirty="0">
                <a:solidFill>
                  <a:srgbClr val="E5E7EB"/>
                </a:solidFill>
                <a:latin typeface="Noto Sans SC"/>
                <a:ea typeface="Noto Sans SC"/>
                <a:sym typeface="Noto Sans SC"/>
              </a:rPr>
              <a:t>功能似乎无法调用</a:t>
            </a:r>
            <a:endParaRPr lang="en-US" sz="1100" dirty="0"/>
          </a:p>
        </p:txBody>
      </p:sp>
      <p:pic>
        <p:nvPicPr>
          <p:cNvPr id="13" name="Picture 13">
            <a:extLst>
              <a:ext uri="{FF2B5EF4-FFF2-40B4-BE49-F238E27FC236}">
                <a16:creationId xmlns:a16="http://schemas.microsoft.com/office/drawing/2014/main" id="{4E1FCC15-4619-32D7-3F2C-A1EF4C0B886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70000" y="3886200"/>
            <a:ext cx="203200" cy="203200"/>
          </a:xfrm>
          <a:prstGeom prst="rect">
            <a:avLst/>
          </a:prstGeom>
        </p:spPr>
      </p:pic>
      <p:sp>
        <p:nvSpPr>
          <p:cNvPr id="14" name="AutoShape 14">
            <a:extLst>
              <a:ext uri="{FF2B5EF4-FFF2-40B4-BE49-F238E27FC236}">
                <a16:creationId xmlns:a16="http://schemas.microsoft.com/office/drawing/2014/main" id="{EF4F653E-F23F-F79F-1C2B-ADC3DE6DD1ED}"/>
              </a:ext>
            </a:extLst>
          </p:cNvPr>
          <p:cNvSpPr/>
          <p:nvPr/>
        </p:nvSpPr>
        <p:spPr>
          <a:xfrm>
            <a:off x="1574800" y="3860800"/>
            <a:ext cx="4318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dirty="0">
                <a:solidFill>
                  <a:schemeClr val="bg1"/>
                </a:solidFill>
              </a:rPr>
              <a:t>项目地址</a:t>
            </a:r>
            <a:r>
              <a:rPr lang="en-US" altLang="zh-CN" dirty="0">
                <a:solidFill>
                  <a:schemeClr val="bg1"/>
                </a:solidFill>
              </a:rPr>
              <a:t>: https://huiyunai-production.up.railway.app/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7" name="Picture 17">
            <a:extLst>
              <a:ext uri="{FF2B5EF4-FFF2-40B4-BE49-F238E27FC236}">
                <a16:creationId xmlns:a16="http://schemas.microsoft.com/office/drawing/2014/main" id="{0018BB0B-1AE3-489B-0305-0828D1CD57C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62000" y="4953000"/>
            <a:ext cx="304800" cy="304800"/>
          </a:xfrm>
          <a:prstGeom prst="rect">
            <a:avLst/>
          </a:prstGeom>
        </p:spPr>
      </p:pic>
      <p:sp>
        <p:nvSpPr>
          <p:cNvPr id="18" name="AutoShape 18">
            <a:extLst>
              <a:ext uri="{FF2B5EF4-FFF2-40B4-BE49-F238E27FC236}">
                <a16:creationId xmlns:a16="http://schemas.microsoft.com/office/drawing/2014/main" id="{4A25DE2E-FE24-B006-66E1-EAA2E03A68E8}"/>
              </a:ext>
            </a:extLst>
          </p:cNvPr>
          <p:cNvSpPr/>
          <p:nvPr/>
        </p:nvSpPr>
        <p:spPr>
          <a:xfrm>
            <a:off x="1270000" y="49530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1800" b="1" dirty="0">
                <a:solidFill>
                  <a:srgbClr val="FFFFFF"/>
                </a:solidFill>
                <a:latin typeface="Noto Sans SC"/>
                <a:ea typeface="Noto Sans SC"/>
                <a:sym typeface="Noto Sans SC"/>
              </a:rPr>
              <a:t>快速调用</a:t>
            </a:r>
            <a:endParaRPr lang="en-US" sz="1100" dirty="0"/>
          </a:p>
        </p:txBody>
      </p:sp>
      <p:sp>
        <p:nvSpPr>
          <p:cNvPr id="19" name="AutoShape 19">
            <a:extLst>
              <a:ext uri="{FF2B5EF4-FFF2-40B4-BE49-F238E27FC236}">
                <a16:creationId xmlns:a16="http://schemas.microsoft.com/office/drawing/2014/main" id="{C4ED1DF5-C2AD-B769-8F76-906A8FA9135B}"/>
              </a:ext>
            </a:extLst>
          </p:cNvPr>
          <p:cNvSpPr/>
          <p:nvPr/>
        </p:nvSpPr>
        <p:spPr>
          <a:xfrm>
            <a:off x="1269999" y="5334000"/>
            <a:ext cx="9878291" cy="1427018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altLang="zh-CN" dirty="0">
                <a:solidFill>
                  <a:schemeClr val="bg1"/>
                </a:solidFill>
              </a:rPr>
              <a:t>Windows:</a:t>
            </a:r>
          </a:p>
          <a:p>
            <a:pPr indent="0" algn="l">
              <a:lnSpc>
                <a:spcPct val="116666"/>
              </a:lnSpc>
              <a:defRPr/>
            </a:pP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zh-CN" altLang="en-US" dirty="0">
                <a:solidFill>
                  <a:schemeClr val="bg1"/>
                </a:solidFill>
              </a:rPr>
              <a:t>拉取仓库</a:t>
            </a:r>
            <a:endParaRPr lang="en-US" altLang="zh-CN" dirty="0">
              <a:solidFill>
                <a:schemeClr val="bg1"/>
              </a:solidFill>
            </a:endParaRPr>
          </a:p>
          <a:p>
            <a:pPr indent="0" algn="l">
              <a:lnSpc>
                <a:spcPct val="116666"/>
              </a:lnSpc>
              <a:defRPr/>
            </a:pPr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zh-CN" altLang="en-US" dirty="0">
                <a:solidFill>
                  <a:schemeClr val="bg1"/>
                </a:solidFill>
              </a:rPr>
              <a:t>在</a:t>
            </a:r>
            <a:r>
              <a:rPr lang="en-US" altLang="zh-CN" dirty="0">
                <a:solidFill>
                  <a:schemeClr val="bg1"/>
                </a:solidFill>
              </a:rPr>
              <a:t>backend</a:t>
            </a:r>
            <a:r>
              <a:rPr lang="zh-CN" altLang="en-US" dirty="0">
                <a:solidFill>
                  <a:schemeClr val="bg1"/>
                </a:solidFill>
              </a:rPr>
              <a:t>下创建</a:t>
            </a:r>
            <a:r>
              <a:rPr lang="en-US" altLang="zh-CN" dirty="0">
                <a:solidFill>
                  <a:schemeClr val="bg1"/>
                </a:solidFill>
              </a:rPr>
              <a:t>.env</a:t>
            </a:r>
          </a:p>
          <a:p>
            <a:pPr>
              <a:lnSpc>
                <a:spcPct val="116666"/>
              </a:lnSpc>
              <a:defRPr/>
            </a:pPr>
            <a:r>
              <a:rPr lang="en-US" dirty="0">
                <a:solidFill>
                  <a:schemeClr val="bg1"/>
                </a:solidFill>
              </a:rPr>
              <a:t>		</a:t>
            </a:r>
            <a:r>
              <a:rPr lang="en-US" altLang="zh-CN" dirty="0">
                <a:solidFill>
                  <a:schemeClr val="bg1"/>
                </a:solidFill>
              </a:rPr>
              <a:t>QWEN_KEY=</a:t>
            </a:r>
            <a:br>
              <a:rPr lang="en-US" altLang="zh-CN" dirty="0">
                <a:solidFill>
                  <a:schemeClr val="bg1"/>
                </a:solidFill>
              </a:rPr>
            </a:br>
            <a:r>
              <a:rPr lang="en-US" altLang="zh-CN" dirty="0">
                <a:solidFill>
                  <a:schemeClr val="bg1"/>
                </a:solidFill>
              </a:rPr>
              <a:t>		HEFENG_KEY=	</a:t>
            </a:r>
          </a:p>
          <a:p>
            <a:pPr>
              <a:lnSpc>
                <a:spcPct val="116666"/>
              </a:lnSpc>
              <a:defRPr/>
            </a:pPr>
            <a:r>
              <a:rPr lang="en-US" altLang="zh-CN" dirty="0">
                <a:solidFill>
                  <a:schemeClr val="bg1"/>
                </a:solidFill>
              </a:rPr>
              <a:t>	</a:t>
            </a:r>
            <a:r>
              <a:rPr lang="zh-CN" altLang="en-US" dirty="0">
                <a:solidFill>
                  <a:schemeClr val="bg1"/>
                </a:solidFill>
              </a:rPr>
              <a:t>运行</a:t>
            </a:r>
            <a:r>
              <a:rPr lang="en-US" altLang="zh-CN" dirty="0">
                <a:solidFill>
                  <a:schemeClr val="bg1"/>
                </a:solidFill>
              </a:rPr>
              <a:t>run.bat</a:t>
            </a:r>
            <a:br>
              <a:rPr lang="en-US" altLang="zh-CN" dirty="0"/>
            </a:br>
            <a:endParaRPr lang="en-US" altLang="zh-CN" dirty="0"/>
          </a:p>
          <a:p>
            <a:pPr indent="0" algn="l">
              <a:lnSpc>
                <a:spcPct val="116666"/>
              </a:lnSpc>
              <a:defRPr/>
            </a:pPr>
            <a:endParaRPr lang="en-US" dirty="0">
              <a:solidFill>
                <a:schemeClr val="bg1"/>
              </a:solidFill>
            </a:endParaRPr>
          </a:p>
          <a:p>
            <a:pPr indent="0" algn="l">
              <a:lnSpc>
                <a:spcPct val="116666"/>
              </a:lnSpc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739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1016000" y="2286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5200" b="1" i="0" u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Q&amp;A / Thank You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461000" y="3365500"/>
            <a:ext cx="1270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3683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感谢聆听，欢迎提问。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541</Words>
  <Application>Microsoft Office PowerPoint</Application>
  <PresentationFormat>宽屏</PresentationFormat>
  <Paragraphs>117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16" baseType="lpstr">
      <vt:lpstr>Noto Sans SC</vt:lpstr>
      <vt:lpstr>Arial</vt:lpstr>
      <vt:lpstr>Poppins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Jerry Liao</cp:lastModifiedBy>
  <cp:revision>4</cp:revision>
  <dcterms:modified xsi:type="dcterms:W3CDTF">2026-01-27T02:50:53Z</dcterms:modified>
</cp:coreProperties>
</file>