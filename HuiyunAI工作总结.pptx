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大家好，今天我将向大家汇报我负责的HuiyunAI项目。这是一个基于AI的天气与天文咨询系统，接下来我将从设计思路、技术架构和功能演示三个方面进行详细介绍。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本次汇报将分为五个部分，首先是项目概述，然后是设计思路、技术架构、功能演示，最后是总结与展望。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项目的基本情况。HuiyunAI诞生于AI技术飞速发展的背景下，我们希望通过AI来赋能传统的天气和天文领域。项目的核心目标是为用户提供一个准确、高效的咨询服务平台，并通过集成先进的AI模型来实现个性化的建议，最终为用户提供一站式的信息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设计HuiyunAI时，我们始终坚持以用户为中心的核心思想。我们的设计原则包括简洁易用、精准高效、个性化服务和可扩展性。我们希望通过简洁的界面和直观的操作，让用户能够轻松获取所需信息；同时，依托强大的AI模型，保证信息的准确性和系统的响应速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接下来，我们看一下HuiyunAI的技术架构。整个系统采用分层设计，包括前端、API网关、后端服务、AI模型和数据存储。这种架构保证了系统的稳定性和可扩展性。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后端，我们选择了FastAPI作为API框架，它不仅性能出色，还能自动生成API文档。核心的AI能力由阿里的通义千问大模型提供。整个项目使用Python开发，并通过Docker进行容器化部署，确保了开发和生产环境的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前端方面，我们采用了经典的HTML、CSS和JavaScript组合，并引入了Tailwind CSS来加速UI开发，使用Font Awesome提供丰富的图标支持，从而打造出一个既美观又实用的用户界面。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部署和运维方面，我们全面采用了Docker容器化技术，这使得应用可以轻松地在任何支持Docker的环境中运行。同时，我们使用Git进行版本控制，并借助CI/CD工具实现了自动化的构建和部署流程，大大提高了开发和运维的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接下来，我将为大家演示HuiyunAI的主要功能。首先是天气查询，用户只需输入城市名称，系统就会返回该城市的实时天气信息，比如温度、天气状况和风力等。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除了天气查询，HuiyunAI还提供了天文预测功能。用户可以查询未来的月相、流星雨等天文现象，满足天文爱好者的需求。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HuiyunAI项目已经成功实现了所有核心功能，包括天气查询、天文预测和个性化建议。在技术上，我们通过使用FastAPI和Docker等先进技术，构建了一个高效、稳定且易于部署的系统。该项目为用户提供了极大的便利，获得了良好的用户反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361C-98F6-C6D2-64C9-76C01F02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9F20C-7BB5-A1E9-5AC7-22624B5E42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8E63B-9677-26B9-AEF6-09329AF6C8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A99297C-BA81-DB97-8BEB-139C27CC9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6B66800-CDB1-BBA4-6ED4-8A8D75BF8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HuiyunAI项目已经成功实现了所有核心功能，包括天气查询、天文预测和个性化建议。在技术上，我们通过使用FastAPI和Docker等先进技术，构建了一个高效、稳定且易于部署的系统。该项目为用户提供了极大的便利，获得了良好的用户反馈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D2959-648C-BEE5-71DD-DA57DB7C89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46FA4-3213-DD99-E9AD-0DBD45B1D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832137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3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3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3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3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4.svg"/><Relationship Id="rId10" Type="http://schemas.openxmlformats.org/officeDocument/2006/relationships/image" Target="../media/image33.jpeg"/><Relationship Id="rId4" Type="http://schemas.openxmlformats.org/officeDocument/2006/relationships/image" Target="../media/image3.png"/><Relationship Id="rId9" Type="http://schemas.openxmlformats.org/officeDocument/2006/relationships/image" Target="../media/image3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3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10" Type="http://schemas.openxmlformats.org/officeDocument/2006/relationships/image" Target="../media/image38.jpeg"/><Relationship Id="rId4" Type="http://schemas.openxmlformats.org/officeDocument/2006/relationships/image" Target="../media/image34.png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12" Type="http://schemas.openxmlformats.org/officeDocument/2006/relationships/image" Target="../media/image4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42.svg"/><Relationship Id="rId5" Type="http://schemas.openxmlformats.org/officeDocument/2006/relationships/image" Target="../media/image40.svg"/><Relationship Id="rId10" Type="http://schemas.openxmlformats.org/officeDocument/2006/relationships/image" Target="../media/image41.png"/><Relationship Id="rId4" Type="http://schemas.openxmlformats.org/officeDocument/2006/relationships/image" Target="../media/image39.pn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42.svg"/><Relationship Id="rId5" Type="http://schemas.openxmlformats.org/officeDocument/2006/relationships/image" Target="../media/image40.svg"/><Relationship Id="rId10" Type="http://schemas.openxmlformats.org/officeDocument/2006/relationships/image" Target="../media/image41.png"/><Relationship Id="rId4" Type="http://schemas.openxmlformats.org/officeDocument/2006/relationships/image" Target="../media/image39.png"/><Relationship Id="rId9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集训</a:t>
            </a: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工作总结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588000" y="31115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492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彗云</a:t>
            </a:r>
            <a:r>
              <a:rPr lang="en-US" altLang="zh-CN" sz="2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 - </a:t>
            </a:r>
            <a:r>
              <a:rPr lang="en-US" sz="22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基于AI的天气与天文咨询系统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3556008" y="4311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286000" y="4699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廖云飞</a:t>
            </a:r>
            <a:r>
              <a:rPr 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| 日期：2026年1月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4323">
            <a:off x="762013" y="12128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20800" y="1803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项目概述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762008" y="2330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66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20800" y="2692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设计思路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594">
            <a:off x="762008" y="3219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3556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20800" y="3581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技术架构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762008" y="4108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4445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20800" y="4470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总结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594">
            <a:off x="762008" y="4997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总结与展望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87722">
            <a:off x="4825990" y="3549672"/>
            <a:ext cx="35560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112000" y="177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本次汇报概览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2000" y="241300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93000" y="2413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项目背景与目标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2000" y="3048000"/>
            <a:ext cx="203200" cy="203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3048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核心设计理念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2000" y="3683000"/>
            <a:ext cx="203200" cy="203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493000" y="3683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关键技术栈与实现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2000" y="4318000"/>
            <a:ext cx="203200" cy="203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493000" y="4318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核心功能与效果展示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12000" y="4572000"/>
            <a:ext cx="203200" cy="203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493000" y="4572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成果总结与未来规划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4323">
            <a:off x="762013" y="12128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778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20800" y="1803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开发背景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20800" y="22098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利用AI赋能传统天气与天文领域，提供更准确、高效的服务。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149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20800" y="3175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20800" y="35814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提供精准的天气和天文咨询，并通过AI实现个性化建议。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45212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20800" y="4546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20800" y="4953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打造一站式信息查询平台，全面提升用户体验。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t="2655" b="2655"/>
          <a:stretch>
            <a:fillRect/>
          </a:stretch>
        </p:blipFill>
        <p:spPr>
          <a:xfrm>
            <a:off x="6604000" y="2032000"/>
            <a:ext cx="4826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设计思路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t="5500" b="5500"/>
          <a:stretch>
            <a:fillRect/>
          </a:stretch>
        </p:blipFill>
        <p:spPr>
          <a:xfrm>
            <a:off x="762000" y="1651000"/>
            <a:ext cx="5080000" cy="3390900"/>
          </a:xfrm>
          <a:prstGeom prst="roundRect">
            <a:avLst>
              <a:gd name="adj" fmla="val 4494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6350000" y="1651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1336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以用户为中心，利用AI技术简化和优化天气与天文信息的获取方式。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9464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设计原则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34798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3479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简洁易用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3835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界面设计简洁明了，操作流程直观。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43688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4368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精准高效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58000" y="4724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依托AI模型，确保信息的准确性和响应速度。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7188">
            <a:off x="762016" y="12128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360" t="16137" r="3401" b="16137"/>
          <a:stretch>
            <a:fillRect/>
          </a:stretch>
        </p:blipFill>
        <p:spPr>
          <a:xfrm>
            <a:off x="1651000" y="1524000"/>
            <a:ext cx="8890000" cy="4064000"/>
          </a:xfrm>
          <a:prstGeom prst="roundRect">
            <a:avLst>
              <a:gd name="adj" fmla="val 2500"/>
            </a:avLst>
          </a:prstGeom>
          <a:noFill/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BFFF">
                <a:alpha val="30000"/>
              </a:srgbClr>
            </a:outerShdw>
          </a:effectLst>
        </p:spPr>
      </p:pic>
      <p:sp>
        <p:nvSpPr>
          <p:cNvPr id="7" name="AutoShape 7"/>
          <p:cNvSpPr/>
          <p:nvPr/>
        </p:nvSpPr>
        <p:spPr>
          <a:xfrm>
            <a:off x="762000" y="57150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系统采用分层设计，保证了稳定性、可扩展性与高效的AI服务能力。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后端技术栈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651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31964" r="31964"/>
          <a:stretch>
            <a:fillRect/>
          </a:stretch>
        </p:blipFill>
        <p:spPr>
          <a:xfrm>
            <a:off x="1066800" y="19558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133600" y="19558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133600" y="24130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构建高效API服务，支持自动文档与类型提示。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26428" r="26428"/>
          <a:stretch>
            <a:fillRect/>
          </a:stretch>
        </p:blipFill>
        <p:spPr>
          <a:xfrm>
            <a:off x="6654800" y="1955800"/>
            <a:ext cx="812800" cy="812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721600" y="19558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阿里通义千问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21600" y="24130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提供核心AI能力，处理自然语言查询。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5080000" cy="2032000"/>
          </a:xfrm>
          <a:prstGeom prst="roundRect">
            <a:avLst>
              <a:gd name="adj" fmla="val 500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241800"/>
            <a:ext cx="812800" cy="812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133600" y="4241800"/>
            <a:ext cx="355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Python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133600" y="4699000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作为项目的主要开发语言，生态丰富。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800000"/>
            </a:avLst>
          </a:prstGeom>
          <a:solidFill>
            <a:srgbClr val="1E293B">
              <a:alpha val="7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Docker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容器化部署，保证环境一致性与可移植性。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3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前端技术栈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172554">
              <a:alpha val="5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2603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HTML/CSS/JS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构建原生、高性能的Web界面基石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-12700000" y="-12700000"/>
            <a:ext cx="12700" cy="12700"/>
          </a:xfrm>
          <a:prstGeom prst="roundRect">
            <a:avLst>
              <a:gd name="adj" fmla="val 800000"/>
            </a:avLst>
          </a:prstGeom>
          <a:solidFill>
            <a:srgbClr val="172554">
              <a:alpha val="5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Tailwind CSS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快速构建响应式、美观的现代UI。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172554">
              <a:alpha val="5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1905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82000" y="2603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Font Awesome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04800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提供丰富、可定制的矢量图标库。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092">
            <a:off x="762004" y="481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62000" y="5207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通过技术栈的合理搭配，我们致力于打造美观、高效且易于维护的用户界面。</a:t>
            </a:r>
            <a:endParaRPr lang="en-US" sz="1100"/>
          </a:p>
        </p:txBody>
      </p:sp>
      <p:sp>
        <p:nvSpPr>
          <p:cNvPr id="20" name="AutoShape 5">
            <a:extLst>
              <a:ext uri="{FF2B5EF4-FFF2-40B4-BE49-F238E27FC236}">
                <a16:creationId xmlns:a16="http://schemas.microsoft.com/office/drawing/2014/main" id="{5E11C846-0528-FC51-13EF-3E0A975F0037}"/>
              </a:ext>
            </a:extLst>
          </p:cNvPr>
          <p:cNvSpPr/>
          <p:nvPr/>
        </p:nvSpPr>
        <p:spPr>
          <a:xfrm>
            <a:off x="4445000" y="1657350"/>
            <a:ext cx="3302000" cy="2794000"/>
          </a:xfrm>
          <a:prstGeom prst="roundRect">
            <a:avLst>
              <a:gd name="adj" fmla="val 3636"/>
            </a:avLst>
          </a:prstGeom>
          <a:solidFill>
            <a:srgbClr val="172554">
              <a:alpha val="5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6">
            <a:extLst>
              <a:ext uri="{FF2B5EF4-FFF2-40B4-BE49-F238E27FC236}">
                <a16:creationId xmlns:a16="http://schemas.microsoft.com/office/drawing/2014/main" id="{68CFA3D3-0CAE-DF4E-5C11-0BC4065179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11350"/>
            <a:ext cx="508000" cy="508000"/>
          </a:xfrm>
          <a:prstGeom prst="rect">
            <a:avLst/>
          </a:prstGeom>
        </p:spPr>
      </p:pic>
      <p:sp>
        <p:nvSpPr>
          <p:cNvPr id="22" name="AutoShape 7">
            <a:extLst>
              <a:ext uri="{FF2B5EF4-FFF2-40B4-BE49-F238E27FC236}">
                <a16:creationId xmlns:a16="http://schemas.microsoft.com/office/drawing/2014/main" id="{8AD5B658-6631-F6E8-FF98-4C49D9988874}"/>
              </a:ext>
            </a:extLst>
          </p:cNvPr>
          <p:cNvSpPr/>
          <p:nvPr/>
        </p:nvSpPr>
        <p:spPr>
          <a:xfrm>
            <a:off x="4699000" y="260985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800" dirty="0" err="1">
                <a:solidFill>
                  <a:schemeClr val="bg1"/>
                </a:solidFill>
              </a:rPr>
              <a:t>axios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3" name="AutoShape 8">
            <a:extLst>
              <a:ext uri="{FF2B5EF4-FFF2-40B4-BE49-F238E27FC236}">
                <a16:creationId xmlns:a16="http://schemas.microsoft.com/office/drawing/2014/main" id="{C362625E-18D1-FB53-5489-45DD3398C6E4}"/>
              </a:ext>
            </a:extLst>
          </p:cNvPr>
          <p:cNvSpPr/>
          <p:nvPr/>
        </p:nvSpPr>
        <p:spPr>
          <a:xfrm>
            <a:off x="4699000" y="3054350"/>
            <a:ext cx="279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第三方</a:t>
            </a:r>
            <a:r>
              <a:rPr lang="en-US" altLang="zh-CN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API</a:t>
            </a:r>
            <a:r>
              <a:rPr lang="zh-CN" altLang="en-US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调用库</a:t>
            </a:r>
            <a:endParaRPr lang="en-US" dirty="0">
              <a:solidFill>
                <a:schemeClr val="bg1"/>
              </a:solidFill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部署与运维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422400" y="2413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422400" y="2844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使用Git进行代码管理，确保开发流程的规范。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使用Git进行代码管理，确保开发流程的规范。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CI/CD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使用GitHub Actions等工具实现持续集成和持续部署。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8540">
            <a:off x="4191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l="49762" r="49762"/>
          <a:stretch>
            <a:fillRect/>
          </a:stretch>
        </p:blipFill>
        <p:spPr>
          <a:xfrm>
            <a:off x="-12700000" y="-12700000"/>
            <a:ext cx="12700" cy="12700"/>
          </a:xfrm>
          <a:prstGeom prst="roundRect">
            <a:avLst>
              <a:gd name="adj" fmla="val 1200000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39D6815D-59B5-BAF6-9092-EE6D9A8CE8C7}"/>
              </a:ext>
            </a:extLst>
          </p:cNvPr>
          <p:cNvSpPr/>
          <p:nvPr/>
        </p:nvSpPr>
        <p:spPr>
          <a:xfrm>
            <a:off x="1422400" y="3619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项目部署</a:t>
            </a:r>
            <a:endParaRPr lang="en-US" sz="1100" dirty="0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AD087531-CB05-C4F6-AB21-A6AB1C1F1EAA}"/>
              </a:ext>
            </a:extLst>
          </p:cNvPr>
          <p:cNvSpPr/>
          <p:nvPr/>
        </p:nvSpPr>
        <p:spPr>
          <a:xfrm>
            <a:off x="1422400" y="40513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zh-CN" altLang="en-US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免费部署工具</a:t>
            </a:r>
            <a:r>
              <a:rPr lang="en-US" altLang="zh-CN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Railway</a:t>
            </a:r>
          </a:p>
          <a:p>
            <a:pPr>
              <a:lnSpc>
                <a:spcPct val="116666"/>
              </a:lnSpc>
              <a:defRPr/>
            </a:pPr>
            <a:r>
              <a:rPr lang="zh-CN" altLang="en-US" dirty="0">
                <a:solidFill>
                  <a:schemeClr val="bg1"/>
                </a:solidFill>
                <a:latin typeface="Noto Sans SC"/>
                <a:ea typeface="Noto Sans SC"/>
                <a:sym typeface="Noto Sans SC"/>
              </a:rPr>
              <a:t>项目地址</a:t>
            </a:r>
            <a:r>
              <a:rPr lang="en-US" altLang="zh-CN" dirty="0">
                <a:solidFill>
                  <a:schemeClr val="bg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en-US" altLang="zh-CN" dirty="0">
                <a:solidFill>
                  <a:schemeClr val="bg1"/>
                </a:solidFill>
              </a:rPr>
              <a:t>https://</a:t>
            </a:r>
            <a:r>
              <a:rPr lang="en-US" altLang="zh-CN" dirty="0" err="1">
                <a:solidFill>
                  <a:schemeClr val="bg1"/>
                </a:solidFill>
              </a:rPr>
              <a:t>huiyunai-production.up.railway.app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 - 天气查询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实时天气，一键获取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4384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用户可以输入城市名称，快速查询该城市的当前天气情况。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2258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2512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系统返回实时温度、天气状况、风力风向等关键信息。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038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064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界面简洁直观，提供最佳的用户查询体验。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5676">
            <a:off x="4572000" y="329566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477000" y="1778000"/>
            <a:ext cx="5080000" cy="2857500"/>
          </a:xfrm>
          <a:prstGeom prst="roundRect">
            <a:avLst>
              <a:gd name="adj" fmla="val 5333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BFFF">
                <a:alpha val="40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762000" y="5334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简单、快速、精准，满足您的日常天气查询需求。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 - 天文预测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762008" y="1200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778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探索宇宙的奥秘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286000"/>
            <a:ext cx="457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用户可以查询天文相关的预测信息，如月相变化、流星雨时间表等，满足您对星空的好奇心。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3429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14500" y="3429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精准月相查询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14500" y="3810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获取未来30天的月相变化及关键节点。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4572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4572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重大天象预报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14500" y="4953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不错过任何一场精彩的流星雨和行星合相。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rcRect t="52" b="52"/>
          <a:stretch>
            <a:fillRect/>
          </a:stretch>
        </p:blipFill>
        <p:spPr>
          <a:xfrm>
            <a:off x="6096000" y="1778000"/>
            <a:ext cx="5334000" cy="2997200"/>
          </a:xfrm>
          <a:prstGeom prst="roundRect">
            <a:avLst>
              <a:gd name="adj" fmla="val 5084"/>
            </a:avLst>
          </a:prstGeom>
          <a:noFill/>
          <a:ln w="254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317500" dir="2700000" algn="tl" rotWithShape="0">
              <a:srgbClr val="00BFFF">
                <a:alpha val="30000"/>
              </a:srgbClr>
            </a:outerShdw>
          </a:effectLst>
        </p:spPr>
      </p:pic>
      <p:cxnSp>
        <p:nvCxnSpPr>
          <p:cNvPr id="16" name="Connector 16"/>
          <p:cNvCxnSpPr/>
          <p:nvPr/>
        </p:nvCxnSpPr>
        <p:spPr>
          <a:xfrm rot="-4092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4064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762008" y="1212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65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完成情况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032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成功实现了天气查询、天文预测和个性化建议等核心功能。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92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292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378200"/>
            <a:ext cx="203200" cy="203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74800" y="3352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基于FastAPI构建高效、稳定的后端服务。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886200"/>
            <a:ext cx="203200" cy="203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74800" y="3860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集成阿里通义千问AI模型，实现自然语言理解。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495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70000" y="4953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用户价值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70000" y="5334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为用户提供了便捷、精准的天气与天文信息服务。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rcRect l="262" r="262"/>
          <a:stretch>
            <a:fillRect/>
          </a:stretch>
        </p:blipFill>
        <p:spPr>
          <a:xfrm>
            <a:off x="6350000" y="1778000"/>
            <a:ext cx="5080000" cy="3390900"/>
          </a:xfrm>
          <a:prstGeom prst="roundRect">
            <a:avLst>
              <a:gd name="adj" fmla="val 4494"/>
            </a:avLst>
          </a:prstGeom>
          <a:noFill/>
          <a:ln w="254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BF39C-ACAE-B637-5A3B-DC420A2A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A33E82-7175-E209-0F81-A5641C19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56064A0E-984F-FF47-DCFB-7CC0D398E6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1AC9923-938C-4479-F56F-83B17406DF6E}"/>
              </a:ext>
            </a:extLst>
          </p:cNvPr>
          <p:cNvSpPr/>
          <p:nvPr/>
        </p:nvSpPr>
        <p:spPr>
          <a:xfrm>
            <a:off x="762000" y="4064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关于项目</a:t>
            </a:r>
            <a:endParaRPr lang="en-US" sz="1100" dirty="0"/>
          </a:p>
        </p:txBody>
      </p:sp>
      <p:cxnSp>
        <p:nvCxnSpPr>
          <p:cNvPr id="5" name="Connector 5">
            <a:extLst>
              <a:ext uri="{FF2B5EF4-FFF2-40B4-BE49-F238E27FC236}">
                <a16:creationId xmlns:a16="http://schemas.microsoft.com/office/drawing/2014/main" id="{46399ADA-1C77-284A-A7ED-73C173E65061}"/>
              </a:ext>
            </a:extLst>
          </p:cNvPr>
          <p:cNvCxnSpPr/>
          <p:nvPr/>
        </p:nvCxnSpPr>
        <p:spPr>
          <a:xfrm rot="-8594">
            <a:off x="762008" y="1212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5748DD66-F4C6-41AB-9DB8-F8115667B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1B0614AB-B0A6-5E48-FE12-1D92AB40E777}"/>
              </a:ext>
            </a:extLst>
          </p:cNvPr>
          <p:cNvSpPr/>
          <p:nvPr/>
        </p:nvSpPr>
        <p:spPr>
          <a:xfrm>
            <a:off x="1270000" y="165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项目地址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F634AB2-4783-58C1-C912-020458E7F40D}"/>
              </a:ext>
            </a:extLst>
          </p:cNvPr>
          <p:cNvSpPr/>
          <p:nvPr/>
        </p:nvSpPr>
        <p:spPr>
          <a:xfrm>
            <a:off x="1270000" y="2032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https://github.com/muff-cn/HuiyunAI/</a:t>
            </a:r>
            <a:endParaRPr lang="en-US" sz="1100" dirty="0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3D01304-0E14-3580-4A40-D85F466B41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921000"/>
            <a:ext cx="304800" cy="3048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8C3F13EF-73C5-D27D-DA03-3E928470D409}"/>
              </a:ext>
            </a:extLst>
          </p:cNvPr>
          <p:cNvSpPr/>
          <p:nvPr/>
        </p:nvSpPr>
        <p:spPr>
          <a:xfrm>
            <a:off x="1270000" y="292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已部署项目</a:t>
            </a:r>
            <a:endParaRPr lang="en-US" sz="1100" dirty="0"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DEA59BBF-70B3-1B9C-0182-46A96AE749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378200"/>
            <a:ext cx="203200" cy="203200"/>
          </a:xfrm>
          <a:prstGeom prst="rect">
            <a:avLst/>
          </a:prstGeom>
        </p:spPr>
      </p:pic>
      <p:sp>
        <p:nvSpPr>
          <p:cNvPr id="12" name="AutoShape 12">
            <a:extLst>
              <a:ext uri="{FF2B5EF4-FFF2-40B4-BE49-F238E27FC236}">
                <a16:creationId xmlns:a16="http://schemas.microsoft.com/office/drawing/2014/main" id="{8068822C-D559-DD56-A877-1B2B55838DE1}"/>
              </a:ext>
            </a:extLst>
          </p:cNvPr>
          <p:cNvSpPr/>
          <p:nvPr/>
        </p:nvSpPr>
        <p:spPr>
          <a:xfrm>
            <a:off x="1574800" y="3352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注</a:t>
            </a:r>
            <a:r>
              <a:rPr lang="en-US" altLang="zh-CN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: </a:t>
            </a: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由于服务器在境外</a:t>
            </a:r>
            <a:r>
              <a:rPr lang="en-US" altLang="zh-CN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, AI</a:t>
            </a: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功能似乎无法调用</a:t>
            </a:r>
            <a:endParaRPr lang="en-US" sz="1100" dirty="0"/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4E1FCC15-4619-32D7-3F2C-A1EF4C0B88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886200"/>
            <a:ext cx="203200" cy="2032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EF4F653E-F23F-F79F-1C2B-ADC3DE6DD1ED}"/>
              </a:ext>
            </a:extLst>
          </p:cNvPr>
          <p:cNvSpPr/>
          <p:nvPr/>
        </p:nvSpPr>
        <p:spPr>
          <a:xfrm>
            <a:off x="1574800" y="3860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bg1"/>
                </a:solidFill>
              </a:rPr>
              <a:t>项目地址</a:t>
            </a:r>
            <a:r>
              <a:rPr lang="en-US" altLang="zh-CN" dirty="0">
                <a:solidFill>
                  <a:schemeClr val="bg1"/>
                </a:solidFill>
              </a:rPr>
              <a:t>: https://huiyunai-production.up.railway.app/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0018BB0B-1AE3-489B-0305-0828D1CD57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4953000"/>
            <a:ext cx="304800" cy="3048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4A25DE2E-FE24-B006-66E1-EAA2E03A68E8}"/>
              </a:ext>
            </a:extLst>
          </p:cNvPr>
          <p:cNvSpPr/>
          <p:nvPr/>
        </p:nvSpPr>
        <p:spPr>
          <a:xfrm>
            <a:off x="1270000" y="4953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快速调用</a:t>
            </a:r>
            <a:endParaRPr lang="en-US" sz="1100" dirty="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C4ED1DF5-C2AD-B769-8F76-906A8FA9135B}"/>
              </a:ext>
            </a:extLst>
          </p:cNvPr>
          <p:cNvSpPr/>
          <p:nvPr/>
        </p:nvSpPr>
        <p:spPr>
          <a:xfrm>
            <a:off x="1269999" y="5334000"/>
            <a:ext cx="9878291" cy="14270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dirty="0">
                <a:solidFill>
                  <a:schemeClr val="bg1"/>
                </a:solidFill>
              </a:rPr>
              <a:t>Windows:</a:t>
            </a:r>
          </a:p>
          <a:p>
            <a:pPr indent="0" algn="l">
              <a:lnSpc>
                <a:spcPct val="116666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拉取仓库</a:t>
            </a:r>
            <a:endParaRPr lang="en-US" altLang="zh-CN" dirty="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在</a:t>
            </a:r>
            <a:r>
              <a:rPr lang="en-US" altLang="zh-CN" dirty="0">
                <a:solidFill>
                  <a:schemeClr val="bg1"/>
                </a:solidFill>
              </a:rPr>
              <a:t>backend</a:t>
            </a:r>
            <a:r>
              <a:rPr lang="zh-CN" altLang="en-US" dirty="0">
                <a:solidFill>
                  <a:schemeClr val="bg1"/>
                </a:solidFill>
              </a:rPr>
              <a:t>下创建</a:t>
            </a:r>
            <a:r>
              <a:rPr lang="en-US" altLang="zh-CN" dirty="0">
                <a:solidFill>
                  <a:schemeClr val="bg1"/>
                </a:solidFill>
              </a:rPr>
              <a:t>.env</a:t>
            </a:r>
          </a:p>
          <a:p>
            <a:pPr>
              <a:lnSpc>
                <a:spcPct val="116666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		</a:t>
            </a:r>
            <a:r>
              <a:rPr lang="en-US" altLang="zh-CN" dirty="0">
                <a:solidFill>
                  <a:schemeClr val="bg1"/>
                </a:solidFill>
              </a:rPr>
              <a:t>QWEN_KEY=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		HEFENG_</a:t>
            </a:r>
            <a:r>
              <a:rPr lang="en-US" altLang="zh-CN">
                <a:solidFill>
                  <a:schemeClr val="bg1"/>
                </a:solidFill>
              </a:rPr>
              <a:t>KEY=</a:t>
            </a:r>
            <a:endParaRPr lang="en-US" altLang="zh-CN" dirty="0">
              <a:solidFill>
                <a:schemeClr val="bg1"/>
              </a:solidFill>
            </a:endParaRPr>
          </a:p>
          <a:p>
            <a:pPr>
              <a:lnSpc>
                <a:spcPct val="116666"/>
              </a:lnSpc>
              <a:defRPr/>
            </a:pPr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运行</a:t>
            </a:r>
            <a:r>
              <a:rPr lang="en-US" altLang="zh-CN" dirty="0">
                <a:solidFill>
                  <a:schemeClr val="bg1"/>
                </a:solidFill>
              </a:rPr>
              <a:t>run.bat</a:t>
            </a:r>
            <a:br>
              <a:rPr lang="en-US" altLang="zh-CN" dirty="0"/>
            </a:br>
            <a:endParaRPr lang="en-US" altLang="zh-CN" dirty="0"/>
          </a:p>
          <a:p>
            <a:pPr indent="0" algn="l">
              <a:lnSpc>
                <a:spcPct val="116666"/>
              </a:lnSpc>
              <a:defRPr/>
            </a:pPr>
            <a:endParaRPr lang="en-US" dirty="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73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Q&amp;A / Thank You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33655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宽屏</PresentationFormat>
  <Paragraphs>135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Noto Sans SC</vt:lpstr>
      <vt:lpstr>Arial</vt:lpstr>
      <vt:lpstr>Poppins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Jerry Liao</cp:lastModifiedBy>
  <cp:revision>2</cp:revision>
  <dcterms:modified xsi:type="dcterms:W3CDTF">2026-01-26T06:04:55Z</dcterms:modified>
</cp:coreProperties>
</file>